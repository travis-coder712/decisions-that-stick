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280160"/>
            <a:ext cx="1188720" cy="11887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2377440"/>
            <a:ext cx="914400" cy="91440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2834640"/>
            <a:ext cx="914400" cy="9144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90-MINUTE FACILITATED SESSION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That Stick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Deck — alignment for cross-functional teams.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How to use this deck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CFBF1"/>
                </a:solidFill>
              </a:rPr>
              <a:t>Slides 2–14 are room-facing — present them in sequence during the live session. Slides 15 onward are the appendix: background on each framework and further-learning resources, for participants who want to go deeper after the workshop.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· Decisions That Stick · Workshop Pack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at a glance — 90 minutes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blocks. Each one has a clear deliverable. Stay on time — the workshop must produce either a decision or a bounded next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55448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94560" y="2103120"/>
            <a:ext cx="9357055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1579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23160" y="2468880"/>
            <a:ext cx="8899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purpose. Not consensus — a decision.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43784"/>
            <a:ext cx="155448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43784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94560" y="2843784"/>
            <a:ext cx="9357055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898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Hat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23160" y="3209544"/>
            <a:ext cx="8899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know? Facts only, no opinions.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584448"/>
            <a:ext cx="155448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8444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15–40 min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94560" y="3584448"/>
            <a:ext cx="9357055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36393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Risk-First Alignment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23160" y="3950208"/>
            <a:ext cx="8899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risks, rate independently, discuss divergences.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25112"/>
            <a:ext cx="155448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2511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 min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94560" y="4325112"/>
            <a:ext cx="9357055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43799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Hats — evaluation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423160" y="4690872"/>
            <a:ext cx="8899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→ Black → Green. Black Hat gets the most time.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065776"/>
            <a:ext cx="155448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06577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 min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194560" y="5065776"/>
            <a:ext cx="9357055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51206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Pre-Mortem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423160" y="5431536"/>
            <a:ext cx="8899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failed in 18 months — why? Top 3 failure modes → actions.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806440"/>
            <a:ext cx="1554480" cy="6766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806440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85–90 min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194560" y="5806440"/>
            <a:ext cx="9357055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586130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423160" y="6172200"/>
            <a:ext cx="8899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Decider calls it. Reasons + risks accepted, stated aloud.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WORKSHOP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do this week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these out before the session — do not spring them on people in the room.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11535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32304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32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249424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 real decision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hypothetical. Pick a specific, contested decision the team has already tried and failed to resolve in a standard meeting.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02152"/>
            <a:ext cx="10911535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83133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3648456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RAPID roles in advance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4014216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role assignments to all participants before the workshop. Explain what each role means. Give people time to sit with their assignment.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01184"/>
            <a:ext cx="10911535" cy="12344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523036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5047488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for a Ladder of Inference reflection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5413248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down your current view, the data you're drawing on, and the assumption that connects that data to your conclusion." Primes inquiry over advocacy.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1 OF 6 · 0–5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911535" cy="19202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THIS, OUT LOUD, TO THE ROOM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10180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are here to make a better-informed decision on [specific question], using a structured process. Today is not about consensus — it is about making the best decision we can with the information we have.”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explain that the process may feel different from a normal meeting. That's intentional.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2 OF 6 · 5–15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 Hat — what do we know?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and information only. No opinions, no interpretations — just what the evidence actually shows.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93338" cy="23774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393338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established?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documents, agreements everyone accepts as fact.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9178" y="2377440"/>
            <a:ext cx="3393338" cy="23774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9178" y="2377440"/>
            <a:ext cx="3393338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627778" y="260604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our best estimate?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27778" y="320040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we believe but haven't fully confirmed.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8277" y="2377440"/>
            <a:ext cx="3393338" cy="23774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58277" y="2377440"/>
            <a:ext cx="3393338" cy="7315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386877" y="260604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genuinely unknown?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386877" y="3200400"/>
            <a:ext cx="29361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Gaps. Be honest about what we don't know yet.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“Let's park that in the interpretation column and come back to it.”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3 OF 6 · 15–40 MIN (PART 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Risk-First Alignment — name every risk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minutes. Every risk someone raises goes on the list, without debate. Naming a risk is not advocating for a position.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56434" cy="6858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86000"/>
            <a:ext cx="25564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5114" y="2286000"/>
            <a:ext cx="2556434" cy="6858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5114" y="2286000"/>
            <a:ext cx="25564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0148" y="2286000"/>
            <a:ext cx="2556434" cy="6858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0148" y="2286000"/>
            <a:ext cx="25564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delivery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95181" y="2286000"/>
            <a:ext cx="2556434" cy="6858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95181" y="2286000"/>
            <a:ext cx="25564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offtake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2556434" cy="6858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154680"/>
            <a:ext cx="25564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planning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25114" y="3154680"/>
            <a:ext cx="2556434" cy="6858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25114" y="3154680"/>
            <a:ext cx="25564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0148" y="3154680"/>
            <a:ext cx="2556434" cy="6858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0148" y="3154680"/>
            <a:ext cx="25564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10–15 minutes total generating the complete list before moving to ratings.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3 OF 6 · 15–40 MIN (PART 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independently. Reveal together.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min: rate silently, alone. 15 min: reveal simultaneously, discuss only the divergences.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777740"/>
            <a:ext cx="1463040" cy="845820"/>
          </a:xfrm>
          <a:prstGeom prst="rect">
            <a:avLst/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4777740"/>
            <a:ext cx="1463040" cy="845820"/>
          </a:xfrm>
          <a:prstGeom prst="rect">
            <a:avLst/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4777740"/>
            <a:ext cx="1463040" cy="845820"/>
          </a:xfrm>
          <a:prstGeom prst="rect">
            <a:avLst/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4777740"/>
            <a:ext cx="1463040" cy="845820"/>
          </a:xfrm>
          <a:prstGeom prst="rect">
            <a:avLst/>
          </a:prstGeom>
          <a:solidFill>
            <a:srgbClr val="FDE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931920"/>
            <a:ext cx="1463040" cy="845820"/>
          </a:xfrm>
          <a:prstGeom prst="rect">
            <a:avLst/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931920"/>
            <a:ext cx="1463040" cy="845820"/>
          </a:xfrm>
          <a:prstGeom prst="rect">
            <a:avLst/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3931920"/>
            <a:ext cx="1463040" cy="845820"/>
          </a:xfrm>
          <a:prstGeom prst="rect">
            <a:avLst/>
          </a:prstGeom>
          <a:solidFill>
            <a:srgbClr val="FDE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3931920"/>
            <a:ext cx="1463040" cy="845820"/>
          </a:xfrm>
          <a:prstGeom prst="rect">
            <a:avLst/>
          </a:prstGeom>
          <a:solidFill>
            <a:srgbClr val="FDE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86100"/>
            <a:ext cx="1463040" cy="845820"/>
          </a:xfrm>
          <a:prstGeom prst="rect">
            <a:avLst/>
          </a:prstGeom>
          <a:solidFill>
            <a:srgbClr val="D1FAE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3086100"/>
            <a:ext cx="1463040" cy="845820"/>
          </a:xfrm>
          <a:prstGeom prst="rect">
            <a:avLst/>
          </a:prstGeom>
          <a:solidFill>
            <a:srgbClr val="FDE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3086100"/>
            <a:ext cx="1463040" cy="845820"/>
          </a:xfrm>
          <a:prstGeom prst="rect">
            <a:avLst/>
          </a:prstGeom>
          <a:solidFill>
            <a:srgbClr val="FDE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3086100"/>
            <a:ext cx="1463040" cy="845820"/>
          </a:xfrm>
          <a:prstGeom prst="rect">
            <a:avLst/>
          </a:prstGeom>
          <a:solidFill>
            <a:srgbClr val="FECA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240280"/>
            <a:ext cx="1463040" cy="845820"/>
          </a:xfrm>
          <a:prstGeom prst="rect">
            <a:avLst/>
          </a:prstGeom>
          <a:solidFill>
            <a:srgbClr val="FDE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3120" y="2240280"/>
            <a:ext cx="1463040" cy="845820"/>
          </a:xfrm>
          <a:prstGeom prst="rect">
            <a:avLst/>
          </a:prstGeom>
          <a:solidFill>
            <a:srgbClr val="FDE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2240280"/>
            <a:ext cx="1463040" cy="845820"/>
          </a:xfrm>
          <a:prstGeom prst="rect">
            <a:avLst/>
          </a:prstGeom>
          <a:solidFill>
            <a:srgbClr val="FECA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240280"/>
            <a:ext cx="1463040" cy="845820"/>
          </a:xfrm>
          <a:prstGeom prst="rect">
            <a:avLst/>
          </a:prstGeom>
          <a:solidFill>
            <a:srgbClr val="FECA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194767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669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5669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5669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5669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-365760" y="2240280"/>
            <a:ext cx="9144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-365760" y="3086100"/>
            <a:ext cx="9144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-365760" y="3931920"/>
            <a:ext cx="9144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-365760" y="4777740"/>
            <a:ext cx="91440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-777240" y="1947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↑ (rotated label, read bottom-up)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40880" y="2240280"/>
            <a:ext cx="4510735" cy="37033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69480" y="2423160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RATINGS DIVERGE, ASK: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2788920"/>
            <a:ext cx="40535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“What data are you drawing on?”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93B"/>
                </a:solidFill>
              </a:rPr>
              <a:t>“What would have to shift for your rating to change?”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4 OF 6 · 40–70 MIN (1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 Hat — 8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914400"/>
            <a:ext cx="1463040" cy="14630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 and value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11535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606040"/>
            <a:ext cx="101800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is the best case if we proceed?
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value does this option create if it works?
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4748B"/>
                </a:solidFill>
              </a:rPr>
              <a:t>As rigorous as the Black Hat — not cheerleading, a systematic search for upside.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4 OF 6 · 40–70 MIN (2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Hat — 12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914400"/>
            <a:ext cx="1463040" cy="14630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 and risk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11535" cy="22860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606040"/>
            <a:ext cx="101800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could go wrong? What are the weaknesses?
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Where is the logic flawed?
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CFBF1"/>
                </a:solidFill>
              </a:rPr>
              <a:t>This is the most important hat for a high-stakes project decision — give it the most time. Everyone wears it together; it is not the technical lead's job alone.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Facilitator: redirect advocacy back to analysis — “that sounds like a conclusion, let's park it.”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4 OF 6 · 40–70 MIN (3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Hat — 10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814255" y="914400"/>
            <a:ext cx="1463040" cy="146304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and alternatives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11535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CFBF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606040"/>
            <a:ext cx="101800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modifications address the Black Hat concerns?
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alternatives haven't we explored?
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4748B"/>
                </a:solidFill>
              </a:rPr>
              <a:t>Generative, not evaluative. Defer judgement — just generate options.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5 OF 6 · 70–85 MIN (PART 1)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Pre-Mortem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911535" cy="23774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FRAME, OUT LOUD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697480"/>
            <a:ext cx="101800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are 18 months from now. This project went ahead. It has failed — significantly, embarrassingly, expensively. Spend five minutes, alone, writing down every reason you can think of for why it failed.”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independent writing (no talking) → 7 min round-robin capture → 5 min prioritise.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5 OF 6 · 70–85 MIN (PART 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failure modes → mitigation actions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become explicit risk mitigation commitments in the decision record — not afterthoughts.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7472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2286000"/>
            <a:ext cx="256032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/ how bad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2286000"/>
            <a:ext cx="4876495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286000"/>
            <a:ext cx="4876495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 now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3474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788920"/>
            <a:ext cx="2560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2788920"/>
            <a:ext cx="487649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66160"/>
            <a:ext cx="3474720" cy="77724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3566160"/>
            <a:ext cx="2560320" cy="77724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566160"/>
            <a:ext cx="4876495" cy="77724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343400"/>
            <a:ext cx="34747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4343400"/>
            <a:ext cx="25603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4343400"/>
            <a:ext cx="487649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6 OF 6 · 85–90 MIN (1 OF 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— who's in which role?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the RAPID roles assigned before the workshop, so everyone remembers who calls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9942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9754" y="24688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31975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999427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68107" y="2286000"/>
            <a:ext cx="199942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781" y="2468880"/>
            <a:ext cx="640080" cy="64008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781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68107" y="324612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68107" y="3611880"/>
            <a:ext cx="1999427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[Name(s)]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96134" y="2286000"/>
            <a:ext cx="199942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5808" y="246888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577580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96134" y="324612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96134" y="3611880"/>
            <a:ext cx="1999427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[Name(s)]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24161" y="2286000"/>
            <a:ext cx="199942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03835" y="2468880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8003835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24161" y="324612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24161" y="3611880"/>
            <a:ext cx="1999427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[Everyone else]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52188" y="2286000"/>
            <a:ext cx="199942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31862" y="246888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1023186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52188" y="3246120"/>
            <a:ext cx="19994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52188" y="3611880"/>
            <a:ext cx="1999427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ROOM-FACING · BLOCK 6 OF 6 · 85–90 MIN (2 OF 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Decider calls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911535" cy="14630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860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ALOUD: the decision, the main reasons, the risks accepted.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10911535" cy="155448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88900" dist="38100" dir="810000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402336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CONFIRMS, OUT LOUD OR IN WRITING: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3434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 will support this decision in implementation even if my preferred option was different.”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room-facing slide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further learning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theory behind each framework, plus where to go next — talks, books, and podcasts on teaming and decision-making more broadly.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appendix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FRAMEWORK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Inquiry over Advocacy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Argyris &amp; Donald Schön (organisational learning) · popularised by Peter Senge, The Fifth Discipline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3093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Ladder of Inference describes how people move — in seconds, mostly unconsciously — from raw data to selected data, to interpretation, to assumptions, to conclusions, to action.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discussions only ever exchange the top rung: conclusions. Inquiry means climbing back down to find out where two reasonable people actually diverge — almost always at assumptions or interpretation, not the conclusion itself.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Argyris's research found that highly skilled professionals are often worse at genuine inquiry than less experienced people, because they have more invested in their existing models being right.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4236415" cy="4206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9456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51460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🎥  Search YouTube: “Peter Senge Ladder of Inference”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Short explainer talks from Senge and systems-thinking practitioners.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🎧  HBR IdeaCast — episodes on organisational learning &amp; mental models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Harvard Business Review's podcast frequently revisits Argyris's defensive-routines research.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📖  The Fifth Discipline — Peter Senge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The definitive text. Chapter on mental models covers this directly.
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appendix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FRAMEWORK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Thinking Hats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 de Bono, 1985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3093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Bono's method separates types of thinking so a group does one at a time, together, instead of each person doing all types at once from a fixed role.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(facts), Red (feelings), Black (caution/risk), Yellow (optimism/value), Green (creativity), Blue (process). The Black Hat is the most valuable and most misunderstood — critical analysis, not pessimism, and everyone wears it together rather than it being one person's job.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facilitation, education, and corporate strategy work since the 1980s.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4236415" cy="4206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9456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51460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🎥  Search YouTube: “Edward de Bono Six Thinking Hats”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De Bono's own recorded talks and many facilitator explainer videos.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🎧  Search podcasts: “Six Thinking Hats facilitation”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Several facilitation- and innovation-focused podcasts have dedicated episodes.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📖  Six Thinking Hats — Edward de Bono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Short, practical, one afternoon to read.
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appendix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FRAMEWORK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Risk-First Alignment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risk-management practice, drawing on probability × impact risk-register methodology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3093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risk-register technique (probability × impact rating) applied specifically to team alignment: rate independently and silently, reveal simultaneously, then discuss only where ratings diverge.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that makes this powerful for cross-functional teams: disagreements about which option to choose are almost always proxy disagreements about which risks matter most. Resolve the risk picture first and the option debate often resolves itself.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project management (PMI, PRINCE2) but rarely applied explicitly to resolve team disagreement — most teams skip straight to debating options.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4236415" cy="4206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9456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51460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🎥  Search YouTube: “probability impact risk matrix facilitation”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Practical walk-throughs of running a risk workshop with a group.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🎧  Search podcasts: “project risk management”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PMI and infrastructure-sector podcasts regularly cover risk-register technique.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📖  Thinking, Fast and Slow — Daniel Kahneman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The cognitive science behind why risk perception diverges between people looking at the same facts.
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appendix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FRAMEWORK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RAPID Decision Roles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Company, 1990s — decision-rights methodology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3093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(Recommend, Agree, Perform, Input, Decide) assigns exactly one role per person per decision — designed to fix the most common cause of corporate decision paralysis: ambiguity about who actually has authority.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 misconfiguration Bain found in client organisations: too many informal “Agree” holders (effective vetoes) and no clear single Decider. Naming roles explicitly, even when uncomfortable, surfaces the implicit power dynamics that were causing the deadlock.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adopted across consulting, private equity, and large corporates as a standard decision-governance tool.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4236415" cy="4206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9456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51460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🎥  Search YouTube: “Bain RAPID decision making framework”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Bain &amp; Company and business-school explainer videos.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🎧  Search podcasts: “decision rights organisational design”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Strategy and org-design podcasts cover RAPID alongside RACI and other decision-rights models.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📖  HBR.org — search “Who Has the D?”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Bain's original Harvard Business Review article introducing RAPID.
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appendix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FRAMEWORK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Pre-Mortem &amp; Red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Pre-Mortem: Gary Klein, Harvard Business Review, 2007 · Red Team: military &amp; intelligence adversarial-review tradition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63093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5760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Pre-Mortem reframes “what are you worried about?” (which feels like dissent) into “imagine it already failed — why?” (a thought experiment everyone can safely contribute to). Klein's research found this single reframe dramatically increases the number and quality of risks teams surface before committing.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borrows from military and intelligence practice: a team explicitly mandated to attack a plan, structurally separate from the team that built it, with no stake in being right.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techniques work because they change the social framing of criticism — from “objecting” to “doing the job you were assigned.”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2011680"/>
            <a:ext cx="4236415" cy="4206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0" y="2194560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251460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🎥  Search YouTube: “Gary Klein pre-mortem TED”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Gary Klein has multiple recorded talks specifically on the pre-mortem technique.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🎧  Search podcasts: “Gary Klein decision making”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Klein has appeared on numerous decision-science and management podcasts.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93B"/>
                </a:solidFill>
              </a:rPr>
              <a:t>📖  Decisive — Chip and Dan Heath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Covers Pre-Mortem in practical depth, with case studies of teams applying it.
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appendix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BEYOND THIS WORKSHOP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Teaming &amp; psychological safety, more broadly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frameworks in this deck only work if people feel safe enough to say what they actually think. These resources go deeper on that prerequisite.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21992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 Edmondson — “Building a psychologically safe workplace” (TEDx)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best 12-minute primer on why teams that feel safe outperform teams that don't.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88036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Fearless Organization — Amy Edmondson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3172968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text behind the talk. Directly relevant to every framework in this deck.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538728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Teams — General Stanley McChrystal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" y="3831336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rigid command structure rebuilt itself around shared information and decentralised decision rights under real operational pressure.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197096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Dysfunctions of a Team — Patrick Lencioni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489704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of how trust, conflict avoidance, and lack of accountability compound in teams — useful diagnostic alongside the diagnosis section of this workshop.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855464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podcasts: “WorkLife with Adam Grant”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97280" y="5148072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covers team dynamics, decision-making, and organisational psychology with practical takeaways.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5513832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podcasts: “Dare to Lead” and “HBR IdeaCast”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97280" y="5806440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recurring episodes on team trust, conflict, and difficult conversations.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That Stick · Workshop Pack — appendix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it. Adapt it. Make it yours.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slides are templates — duplicate, edit the bracketed prompts, and present them live during your session. The full written module, with worked reasoning behind every framework, lives at the link below.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travis-coder712.github.io/decisions-that-stick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217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· Decisions That Stick · Workshop Pack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Decisions That Stick — Workshop Deck</dc:title>
  <dc:subject>PptxGenJS Presentation</dc:subject>
  <dc:creator>Travis Hughes · Studio</dc:creator>
  <cp:lastModifiedBy>Travis Hughes · Studio</cp:lastModifiedBy>
  <cp:revision>1</cp:revision>
  <dcterms:created xsi:type="dcterms:W3CDTF">2026-06-16T02:48:17Z</dcterms:created>
  <dcterms:modified xsi:type="dcterms:W3CDTF">2026-06-16T02:48:17Z</dcterms:modified>
</cp:coreProperties>
</file>